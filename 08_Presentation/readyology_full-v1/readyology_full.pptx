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Readyology.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question land. Don't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357"/>
          </a:solidFill>
          <a:ln w="12700">
            <a:solidFill>
              <a:srgbClr val="0D2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i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pPr indent="0" marL="0">
              <a:buNone/>
            </a:pPr>
            <a:r>
              <a:rPr lang="en-US" sz="6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ology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32004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service layer for AI-human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in breast cancer screening.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3550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College of Art  ·  IRP 2025–26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228600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AI-human disagreement</a:t>
            </a:r>
            <a:endParaRPr lang="en-US" sz="3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manageable and learnable.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577840" y="38404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Breast Advanced Practitioners · Senior Radiologists · NHS Service Leads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present today.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901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" y="22677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59689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breast cancer screening in England and the AI inflection point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190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901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64808" y="22677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4808" y="259689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AI-human disagreement is handled today — and why it fails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278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4107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" y="37764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088" y="41056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gap: System · Human ·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2278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107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64808" y="37764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4808" y="41056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Readyology: three service touchpoints for disagreement support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7365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9194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" y="52852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" y="561441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test + usability test — what we validated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7365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49194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64808" y="52852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64808" y="561441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service blueprint, reflection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Screening at Scale.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· NHS · 2024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2596896" cy="4864608"/>
          </a:xfrm>
          <a:prstGeom prst="roundRect">
            <a:avLst>
              <a:gd name="adj" fmla="val 35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30552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31520" y="35478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mammograms/yr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096512"/>
            <a:ext cx="2139696" cy="0"/>
          </a:xfrm>
          <a:prstGeom prst="line">
            <a:avLst/>
          </a:prstGeom>
          <a:noFill/>
          <a:ln w="19050">
            <a:solidFill>
              <a:srgbClr val="124B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79392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80+ screening units in England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5848" y="1719072"/>
            <a:ext cx="2596896" cy="4864608"/>
          </a:xfrm>
          <a:prstGeom prst="roundRect">
            <a:avLst>
              <a:gd name="adj" fmla="val 35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130552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584448" y="35478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radiographer shortage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84448" y="4096512"/>
            <a:ext cx="2139696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4279392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NHS workforce capacity gap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1719072"/>
            <a:ext cx="2596896" cy="4864608"/>
          </a:xfrm>
          <a:prstGeom prst="roundRect">
            <a:avLst>
              <a:gd name="adj" fmla="val 35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130552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6437376" y="35478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departments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37376" y="4096512"/>
            <a:ext cx="2139696" cy="0"/>
          </a:xfrm>
          <a:prstGeom prst="line">
            <a:avLst/>
          </a:prstGeom>
          <a:noFill/>
          <a:ln w="19050">
            <a:solidFill>
              <a:srgbClr val="124B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4279392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use AI-assisted screening tools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61704" y="1719072"/>
            <a:ext cx="2596896" cy="4864608"/>
          </a:xfrm>
          <a:prstGeom prst="roundRect">
            <a:avLst>
              <a:gd name="adj" fmla="val 35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130552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9290304" y="3547872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reduction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290304" y="4096512"/>
            <a:ext cx="2139696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0304" y="4279392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interval cancers if AI used optimally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Entering the Reading Room.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here. The system isn't ready.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94960" cy="4864608"/>
          </a:xfrm>
          <a:prstGeom prst="roundRect">
            <a:avLst>
              <a:gd name="adj" fmla="val 188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2542032"/>
            <a:ext cx="4956048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cancers human readers might miss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double-reading workload by up to 50%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recall accuracy, reduce false positives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radiologists in high-volume sessions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AI baseline across all cases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719072"/>
            <a:ext cx="5394960" cy="4864608"/>
          </a:xfrm>
          <a:prstGeom prst="roundRect">
            <a:avLst>
              <a:gd name="adj" fmla="val 188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7510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19672" y="2542032"/>
            <a:ext cx="4956048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protocol for AI-human disagreement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decisions inconsistently recorded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loop: AI output vs outcomes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handover for review cases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learning from difficult cases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radiologist reads a mammogram.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it as high risk.</a:t>
            </a:r>
            <a:endParaRPr lang="en-US" sz="5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isn't convinced.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2743200" cy="0"/>
          </a:xfrm>
          <a:prstGeom prst="line">
            <a:avLst/>
          </a:prstGeom>
          <a:noFill/>
          <a:ln w="38100">
            <a:solidFill>
              <a:srgbClr val="124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7121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longer: </a:t>
            </a:r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AI right?"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is: </a:t>
            </a:r>
            <a:pPr indent="0" marL="0">
              <a:buNone/>
            </a:pPr>
            <a:r>
              <a:rPr lang="en-US" sz="26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next — when they disagree?"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Advanced Practitioner · high-volume screening session · mobile van · next case.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Evidence-Based. Expert-Validated.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primary research and published evidence.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8366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80744" y="188366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2257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AI-human workflow models analysed · From pre-screen to arbitration · Source: Pilot Implementation Evidence Note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190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8366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41464" y="188366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Consultation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32257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Sophia Zackrisson · Sr. Consultant Radiologist · Lund University · Expert test of wireframe prototype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278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924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80744" y="339242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83133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student · Real clinical experience · Interactive prototype · Validated low-burden design direction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2278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3924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41464" y="339242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83133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EDITH trial · NHS Breast Screening Programme data · Disagreement classification frameworks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7365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01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80744" y="49011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Interviews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34009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care practitioners · Radiographers · NHS service leads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73659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01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41464" y="49011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5340096"/>
            <a:ext cx="5065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blueprint · Theory of change · Non-blame accountability design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Just Assist.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case in parallel — and it disagrees.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120640" cy="3858768"/>
          </a:xfrm>
          <a:prstGeom prst="roundRect">
            <a:avLst>
              <a:gd name="adj" fmla="val 23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4718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" y="2414016"/>
            <a:ext cx="237744" cy="23774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4323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reads mammogram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7824" y="2651760"/>
            <a:ext cx="0" cy="438912"/>
          </a:xfrm>
          <a:prstGeom prst="line">
            <a:avLst/>
          </a:prstGeom>
          <a:noFill/>
          <a:ln w="1905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3099816"/>
            <a:ext cx="237744" cy="23774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1181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decides: recall / no-recall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7824" y="3337560"/>
            <a:ext cx="0" cy="438912"/>
          </a:xfrm>
          <a:prstGeom prst="line">
            <a:avLst/>
          </a:prstGeom>
          <a:noFill/>
          <a:ln w="19050">
            <a:solidFill>
              <a:srgbClr val="0D11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785616"/>
            <a:ext cx="237744" cy="23774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8039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complete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7824" y="4023360"/>
            <a:ext cx="0" cy="438912"/>
          </a:xfrm>
          <a:prstGeom prst="line">
            <a:avLst/>
          </a:prstGeom>
          <a:noFill/>
          <a:ln w="1905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471416"/>
            <a:ext cx="237744" cy="23774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44897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reader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0" y="1719072"/>
            <a:ext cx="5120640" cy="3858768"/>
          </a:xfrm>
          <a:prstGeom prst="roundRect">
            <a:avLst>
              <a:gd name="adj" fmla="val 237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975104"/>
            <a:ext cx="4718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 (concurrent second reader)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93992" y="2414016"/>
            <a:ext cx="237744" cy="23774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24323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reads mammogram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12864" y="2651760"/>
            <a:ext cx="0" cy="438912"/>
          </a:xfrm>
          <a:prstGeom prst="line">
            <a:avLst/>
          </a:prstGeom>
          <a:noFill/>
          <a:ln w="19050">
            <a:solidFill>
              <a:srgbClr val="0D11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3099816"/>
            <a:ext cx="237744" cy="237744"/>
          </a:xfrm>
          <a:prstGeom prst="ellipse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31181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same case in parallel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12864" y="3337560"/>
            <a:ext cx="0" cy="438912"/>
          </a:xfrm>
          <a:prstGeom prst="line">
            <a:avLst/>
          </a:prstGeom>
          <a:noFill/>
          <a:ln w="19050">
            <a:solidFill>
              <a:srgbClr val="124B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785616"/>
            <a:ext cx="237744" cy="23774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9752" y="38039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compared — disagreement detected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12864" y="4023360"/>
            <a:ext cx="0" cy="438912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3992" y="4471416"/>
            <a:ext cx="237744" cy="23774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448970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 No protocol. No structure. No record.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760720" y="2880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02920" y="610819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detection. It is what happens next.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Comparison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positioned across clinical pathway models — and what each requires.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2560320" cy="972922"/>
          </a:xfrm>
          <a:prstGeom prst="rect">
            <a:avLst/>
          </a:prstGeom>
          <a:solidFill>
            <a:srgbClr val="0D111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792224"/>
            <a:ext cx="232257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1719072"/>
            <a:ext cx="2743200" cy="972922"/>
          </a:xfrm>
          <a:prstGeom prst="rect">
            <a:avLst/>
          </a:prstGeom>
          <a:solidFill>
            <a:srgbClr val="0D111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792224"/>
            <a:ext cx="250545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719072"/>
            <a:ext cx="2926080" cy="972922"/>
          </a:xfrm>
          <a:prstGeom prst="rect">
            <a:avLst/>
          </a:prstGeom>
          <a:solidFill>
            <a:srgbClr val="0D111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52744" y="1792224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1719072"/>
            <a:ext cx="2926080" cy="972922"/>
          </a:xfrm>
          <a:prstGeom prst="rect">
            <a:avLst/>
          </a:prstGeom>
          <a:solidFill>
            <a:srgbClr val="0D111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1792224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Needed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91994"/>
            <a:ext cx="256032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765146"/>
            <a:ext cx="232257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Pre-Screen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2691994"/>
            <a:ext cx="274320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9544" y="2765146"/>
            <a:ext cx="250545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before human read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2691994"/>
            <a:ext cx="292608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52744" y="2765146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human still decides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32520" y="2691994"/>
            <a:ext cx="292608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2765146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logic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664915"/>
            <a:ext cx="2560320" cy="97292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738067"/>
            <a:ext cx="232257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Concurrent  ★ our context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63240" y="3664915"/>
            <a:ext cx="2743200" cy="97292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9544" y="3738067"/>
            <a:ext cx="250545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 parallel with human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06440" y="3664915"/>
            <a:ext cx="2926080" cy="97292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52744" y="3738067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scores diverge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32520" y="3664915"/>
            <a:ext cx="2926080" cy="97292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8824" y="3738067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handling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637837"/>
            <a:ext cx="256032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710989"/>
            <a:ext cx="232257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Arbitration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063240" y="4637837"/>
            <a:ext cx="274320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9544" y="4710989"/>
            <a:ext cx="250545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 when humans disagree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06440" y="4637837"/>
            <a:ext cx="292608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4710989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AI as tiebreak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732520" y="4637837"/>
            <a:ext cx="2926080" cy="97292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78824" y="4710989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framework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2920" y="5610758"/>
            <a:ext cx="2560320" cy="97292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5683910"/>
            <a:ext cx="232257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Post-Read QC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063240" y="5610758"/>
            <a:ext cx="2743200" cy="97292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9544" y="5683910"/>
            <a:ext cx="250545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completed decisions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806440" y="5610758"/>
            <a:ext cx="2926080" cy="97292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52744" y="5683910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retrospective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732520" y="5610758"/>
            <a:ext cx="2926080" cy="97292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78824" y="5683910"/>
            <a:ext cx="2688336" cy="881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escalation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 Placement Models: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failure point.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3200400" cy="0"/>
          </a:xfrm>
          <a:prstGeom prst="line">
            <a:avLst/>
          </a:prstGeom>
          <a:noFill/>
          <a:ln w="38100">
            <a:solidFill>
              <a:srgbClr val="124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84832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and human judgement diverge —
</a:t>
            </a:r>
            <a:pPr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accountability, traceability and learning break down.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3547872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22192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61104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classification of disagreement type or severity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06824" y="3566160"/>
            <a:ext cx="3547872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3822192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9704" y="4261104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reasons inconsistently recorded across practitioners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0728" y="3566160"/>
            <a:ext cx="3547872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3822192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3608" y="4261104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cases not systematically fed back into calibration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Gap.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consequence.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307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8952" y="248716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for disagreement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2871216"/>
            <a:ext cx="3078480" cy="0"/>
          </a:xfrm>
          <a:prstGeom prst="line">
            <a:avLst/>
          </a:prstGeom>
          <a:noFill/>
          <a:ln w="12700">
            <a:solidFill>
              <a:srgbClr val="124BC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054096"/>
            <a:ext cx="3096768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 of disagreement type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trigger or protocol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handover structure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relies on individual improvisation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6181344"/>
            <a:ext cx="3535680" cy="420624"/>
          </a:xfrm>
          <a:prstGeom prst="roundRect">
            <a:avLst>
              <a:gd name="adj" fmla="val 17391"/>
            </a:avLst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6181344"/>
            <a:ext cx="3535680" cy="210312"/>
          </a:xfrm>
          <a:prstGeom prst="rect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181344"/>
            <a:ext cx="3535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liability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8952" y="1975104"/>
            <a:ext cx="307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68952" y="248716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recording practice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68952" y="2871216"/>
            <a:ext cx="307848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8952" y="3054096"/>
            <a:ext cx="3096768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reasoning not standardised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mandatory record of AI output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stays individual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difficult cases not captured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12920" y="6181344"/>
            <a:ext cx="3535680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2920" y="6181344"/>
            <a:ext cx="3535680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2920" y="6181344"/>
            <a:ext cx="3535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conduct decision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8952" y="1975104"/>
            <a:ext cx="307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78952" y="248716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78952" y="2871216"/>
            <a:ext cx="3078480" cy="0"/>
          </a:xfrm>
          <a:prstGeom prst="line">
            <a:avLst/>
          </a:prstGeom>
          <a:noFill/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8952" y="3054096"/>
            <a:ext cx="3096768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calibration not connected to outcomes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results not fed back to AI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cases unavailable for audit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depends on external retraining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2920" y="6181344"/>
            <a:ext cx="3535680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22920" y="6181344"/>
            <a:ext cx="3535680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2920" y="6181344"/>
            <a:ext cx="3535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future AI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Disagreement Journey Breaks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Advanced Practitioner — primary image reader in NHS breast screening.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200400" cy="4882896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975104"/>
            <a:ext cx="27980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Advanced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" y="2798064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Image Reader · NHS Breast Screening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" y="3236976"/>
            <a:ext cx="279806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43814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34930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Cases/yr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" y="40599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grade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" y="46817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659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" y="5376672"/>
            <a:ext cx="279806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5559552"/>
            <a:ext cx="2798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"After the mobile van session, I switch immediately into focused reading mode."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95928" y="1755648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096" y="1810512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enters queue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97096" y="2157984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case in RIS worklist. No AI output yet.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95928" y="2569464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97096" y="2624328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reading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97096" y="2971800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mammogram. Records her judgement independently.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95928" y="3383280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81144" y="3438144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moment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97096" y="3785616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score revealed. No structured comparison support.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95928" y="4197096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81144" y="4251960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detected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97096" y="4599432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differ. No escalation protocol. Ad hoc decision.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95928" y="5010912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81144" y="5065776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arbitration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97096" y="5413248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requested verbally. No structured handover.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95928" y="5824728"/>
            <a:ext cx="7662672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5879592"/>
            <a:ext cx="6931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record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197096" y="6227064"/>
            <a:ext cx="7296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or no-recall. Reasoning rarely recorded.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detection.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happens next.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502920" y="3273552"/>
            <a:ext cx="2743200" cy="0"/>
          </a:xfrm>
          <a:prstGeom prst="line">
            <a:avLst/>
          </a:prstGeom>
          <a:noFill/>
          <a:ln w="38100">
            <a:solidFill>
              <a:srgbClr val="124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93008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help breast cancer screening radiologists detect, resolve and learn from AI-human disagreements — in a way that is </a:t>
            </a:r>
            <a:pPr indent="0" marL="0">
              <a:lnSpc>
                <a:spcPct val="155000"/>
              </a:lnSpc>
              <a:buNone/>
            </a:pPr>
            <a:r>
              <a:rPr lang="en-US" sz="2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accountable, transparent and consistent</a:t>
            </a:r>
            <a:pPr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49240" y="6309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43800" y="6309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38360" y="6309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hypothesis — and how we validated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547872" cy="4151376"/>
          </a:xfrm>
          <a:prstGeom prst="roundRect">
            <a:avLst>
              <a:gd name="adj" fmla="val 257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58952" y="2816352"/>
            <a:ext cx="3108960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screening teams have a lightweight service layer that surfaces AI-human disagreement — with soft cues, structured review, and a traceable decision record 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78224" y="3538728"/>
            <a:ext cx="219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6824" y="1719072"/>
            <a:ext cx="3547872" cy="4151376"/>
          </a:xfrm>
          <a:prstGeom prst="roundRect">
            <a:avLst>
              <a:gd name="adj" fmla="val 257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97510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62856" y="2816352"/>
            <a:ext cx="3108960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can detect, resolve and learn from AI-human disagreement in a way that is accountable, transparent and consistent, without adding cognitive burden.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82128" y="3538728"/>
            <a:ext cx="219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10728" y="1719072"/>
            <a:ext cx="3547872" cy="4151376"/>
          </a:xfrm>
          <a:prstGeom prst="roundRect">
            <a:avLst>
              <a:gd name="adj" fmla="val 2577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97510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66760" y="2816352"/>
            <a:ext cx="3108960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becomes an institutional learning resource, AI calibration improves over time, and women receive safer, more consistent recall decisions.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6016752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089904"/>
            <a:ext cx="23938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test — Sophia Zackrisson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14446" y="6089904"/>
            <a:ext cx="27203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prototype · 'Keep it simple. No extra steps.'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6016752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6089904"/>
            <a:ext cx="23938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— medical student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9446" y="6089904"/>
            <a:ext cx="27203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· 'Real scenarios are fast. Design must be direct.'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357"/>
          </a:solidFill>
          <a:ln w="12700">
            <a:solidFill>
              <a:srgbClr val="0D2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pPr indent="0" marL="0">
              <a:buNone/>
            </a:pPr>
            <a:r>
              <a:rPr lang="en-US" sz="56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ology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20040" y="281635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service layer that sits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existing reading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3730752"/>
            <a:ext cx="219456" cy="219456"/>
          </a:xfrm>
          <a:prstGeom prst="ellipse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221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315968"/>
            <a:ext cx="219456" cy="219456"/>
          </a:xfrm>
          <a:prstGeom prst="ellipse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4074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4901184"/>
            <a:ext cx="219456" cy="219456"/>
          </a:xfrm>
          <a:prstGeom prst="ellipse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9926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63550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Breast Advanced Practitioners · Senior Radiologists · NHS Service Leads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658368"/>
            <a:ext cx="6172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AI-human disagreement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manageable and learnable.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0" y="1901952"/>
            <a:ext cx="617220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121408"/>
            <a:ext cx="6172200" cy="1298448"/>
          </a:xfrm>
          <a:prstGeom prst="roundRect">
            <a:avLst>
              <a:gd name="adj" fmla="val 5634"/>
            </a:avLst>
          </a:prstGeom>
          <a:solidFill>
            <a:srgbClr val="101828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234086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05856" y="2779776"/>
            <a:ext cx="5769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cue when AI and human judgement diverge. No alarm. No interruption to flow.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3566160"/>
            <a:ext cx="6172200" cy="1298448"/>
          </a:xfrm>
          <a:prstGeom prst="roundRect">
            <a:avLst>
              <a:gd name="adj" fmla="val 5634"/>
            </a:avLst>
          </a:prstGeom>
          <a:solidFill>
            <a:srgbClr val="1018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378561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05856" y="4224528"/>
            <a:ext cx="5769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override, comparison and decision recorded automatically. Non-blame audit trail.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5010912"/>
            <a:ext cx="6172200" cy="1298448"/>
          </a:xfrm>
          <a:prstGeom prst="roundRect">
            <a:avLst>
              <a:gd name="adj" fmla="val 5634"/>
            </a:avLst>
          </a:prstGeom>
          <a:solidFill>
            <a:srgbClr val="10182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05856" y="523036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05856" y="5669280"/>
            <a:ext cx="5769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cases become calibration material after follow-up outcome is confirmed.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 Touchpoints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sits across three moments in the reading and governance workflow.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560064" cy="5001768"/>
          </a:xfrm>
          <a:prstGeom prst="roundRect">
            <a:avLst>
              <a:gd name="adj" fmla="val 256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58952" y="2487168"/>
            <a:ext cx="312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Calibration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3127248"/>
            <a:ext cx="3121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visibility moment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" y="3493008"/>
            <a:ext cx="3048000" cy="0"/>
          </a:xfrm>
          <a:prstGeom prst="line">
            <a:avLst/>
          </a:prstGeom>
          <a:noFill/>
          <a:ln w="9525">
            <a:solidFill>
              <a:srgbClr val="124BC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621024"/>
            <a:ext cx="31211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cue — no alarm, no interruption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+ marks + prior images together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confirms or flags for review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tag captured automatically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6318504"/>
            <a:ext cx="3560064" cy="402336"/>
          </a:xfrm>
          <a:prstGeom prst="roundRect">
            <a:avLst>
              <a:gd name="adj" fmla="val 18182"/>
            </a:avLst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318504"/>
            <a:ext cx="3560064" cy="201168"/>
          </a:xfrm>
          <a:prstGeom prst="rect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318504"/>
            <a:ext cx="3560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Breast Advanced Practitioners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0728" y="1719072"/>
            <a:ext cx="3560064" cy="5001768"/>
          </a:xfrm>
          <a:prstGeom prst="roundRect">
            <a:avLst>
              <a:gd name="adj" fmla="val 256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6760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56760" y="2487168"/>
            <a:ext cx="312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Review Support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556760" y="3127248"/>
            <a:ext cx="3121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review 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56760" y="3493008"/>
            <a:ext cx="3048000" cy="0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6760" y="3621024"/>
            <a:ext cx="31211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travels with the case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view: human vs AI output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reviewer receives full context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Non-blame decision receipt after resolution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00728" y="6318504"/>
            <a:ext cx="3560064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0728" y="6318504"/>
            <a:ext cx="35600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0728" y="6318504"/>
            <a:ext cx="3560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Senior Radiologists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8536" y="1719072"/>
            <a:ext cx="3560064" cy="5001768"/>
          </a:xfrm>
          <a:prstGeom prst="roundRect">
            <a:avLst>
              <a:gd name="adj" fmla="val 256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4568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354568" y="2487168"/>
            <a:ext cx="312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Governance Loop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54568" y="3127248"/>
            <a:ext cx="3121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follow-up outcome is known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54568" y="3493008"/>
            <a:ext cx="3048000" cy="0"/>
          </a:xfrm>
          <a:prstGeom prst="line">
            <a:avLst/>
          </a:prstGeom>
          <a:noFill/>
          <a:ln w="9525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4568" y="3621024"/>
            <a:ext cx="31211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cases enter calibration library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Value Check before selection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teaching resource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 for NHS leads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98536" y="6318504"/>
            <a:ext cx="3560064" cy="402336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8536" y="6318504"/>
            <a:ext cx="356006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8536" y="6318504"/>
            <a:ext cx="3560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NHS Service Leads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How Readyology 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interaction states tested with expert and clinical users.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547872" cy="4389120"/>
          </a:xfrm>
          <a:prstGeom prst="roundRect">
            <a:avLst>
              <a:gd name="adj" fmla="val 2577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883664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23225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moment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76148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cue activated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" y="3090672"/>
            <a:ext cx="3145536" cy="1316736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67588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[Mammogram image]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4498848"/>
            <a:ext cx="314553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clinical workstation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judgement recorded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score: HIGH (0.82)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amber cue: 'Review suggested'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alarm. No interruption to flow.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760720"/>
            <a:ext cx="35478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5760720"/>
            <a:ext cx="354787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76072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Disagreement detected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6824" y="1719072"/>
            <a:ext cx="3547872" cy="4389120"/>
          </a:xfrm>
          <a:prstGeom prst="roundRect">
            <a:avLst>
              <a:gd name="adj" fmla="val 2577"/>
            </a:avLst>
          </a:prstGeom>
          <a:solidFill>
            <a:srgbClr val="EAF3FF"/>
          </a:solidFill>
          <a:ln w="19050">
            <a:solidFill>
              <a:srgbClr val="124B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7992" y="1883664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1883664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07992" y="23225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layer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7992" y="276148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brought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090672"/>
            <a:ext cx="3145536" cy="1316736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367588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[Mammogram image]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07992" y="4498848"/>
            <a:ext cx="314553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 + suspicious region overlay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image comparison (3yr stable)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reason tags to confirm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'Stable in prior' · 'AI high, no change'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confirmation.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6824" y="5760720"/>
            <a:ext cx="3547872" cy="347472"/>
          </a:xfrm>
          <a:prstGeom prst="roundRect">
            <a:avLst>
              <a:gd name="adj" fmla="val 21053"/>
            </a:avLst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6824" y="5760720"/>
            <a:ext cx="3547872" cy="182880"/>
          </a:xfrm>
          <a:prstGeom prst="rect">
            <a:avLst/>
          </a:prstGeom>
          <a:solidFill>
            <a:srgbClr val="124BCE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06824" y="576072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Comparison in progress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0728" y="1719072"/>
            <a:ext cx="3547872" cy="4389120"/>
          </a:xfrm>
          <a:prstGeom prst="roundRect">
            <a:avLst>
              <a:gd name="adj" fmla="val 2577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11896" y="1883664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1896" y="1883664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11896" y="23225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receipt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11896" y="276148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consensus review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11896" y="3090672"/>
            <a:ext cx="3145536" cy="1316736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11896" y="367588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[Mammogram image]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11896" y="4498848"/>
            <a:ext cx="314553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decision: No recall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'AI high, area stable in priors'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Non-blame receipt auto-generated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archived to audit log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flagged for learning review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10728" y="5760720"/>
            <a:ext cx="35478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0728" y="5760720"/>
            <a:ext cx="354787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0728" y="576072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Resolved and recorded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181344"/>
            <a:ext cx="5449824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6254496"/>
            <a:ext cx="5157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it simple. No extra steps." — Sophia Zackrisson, Senior Consultant Radiologist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08776" y="6181344"/>
            <a:ext cx="5449824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6254496"/>
            <a:ext cx="5157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scenarios are fast and busy. Design must be direct." — Medical student participant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12064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— NHS AI-human disagreement support service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828800" cy="38920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81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164592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65376"/>
            <a:ext cx="1645920" cy="3325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Breast Screening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vendors (DetectedX)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PACS/RIS integrators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College of Radiologists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EDITH trial partners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389888"/>
            <a:ext cx="1645920" cy="192773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1773936"/>
            <a:ext cx="146304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865376"/>
            <a:ext cx="1463040" cy="1360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detection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review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&amp; audit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case library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354202"/>
            <a:ext cx="1645920" cy="192773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344564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738250"/>
            <a:ext cx="146304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3829690"/>
            <a:ext cx="1463040" cy="1360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logic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Non-blame receipt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library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1389888"/>
            <a:ext cx="2011680" cy="389205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088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1773936"/>
            <a:ext cx="182880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1865376"/>
            <a:ext cx="1828800" cy="3325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AI-human disagreement made visible, manageable &amp; learnable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device required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Non-blame governance record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consensus review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learning 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389888"/>
            <a:ext cx="1645920" cy="192773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773936"/>
            <a:ext cx="146304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865376"/>
            <a:ext cx="1463040" cy="1360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Trust agreements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onboarding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reports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resource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354202"/>
            <a:ext cx="1645920" cy="192773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44564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738250"/>
            <a:ext cx="146304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829690"/>
            <a:ext cx="1463040" cy="1360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workstation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IT procurement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training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partnership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0" y="1389888"/>
            <a:ext cx="1828800" cy="3892052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3568" y="1481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773936"/>
            <a:ext cx="164592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1865376"/>
            <a:ext cx="1645920" cy="3325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Breast Screening Units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Advanced Practitioners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Radiologists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Service Leads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355092"/>
            <a:ext cx="5669280" cy="13931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54465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739140"/>
            <a:ext cx="5486400" cy="0"/>
          </a:xfrm>
          <a:prstGeom prst="line">
            <a:avLst/>
          </a:prstGeom>
          <a:noFill/>
          <a:ln w="635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5830580"/>
            <a:ext cx="5486400" cy="826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&amp; maintenance  ·  Clinical validation  ·  NHS integration engineering  ·  Data security &amp; compliance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355092"/>
            <a:ext cx="5669280" cy="1393180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54465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5739140"/>
            <a:ext cx="5486400" cy="0"/>
          </a:xfrm>
          <a:prstGeom prst="line">
            <a:avLst/>
          </a:prstGeom>
          <a:noFill/>
          <a:ln w="6350">
            <a:solidFill>
              <a:srgbClr val="124BCE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5830580"/>
            <a:ext cx="5486400" cy="826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Trust per-site licensing  ·  Governance reporting subscription  ·  Training &amp; calibration service  ·  Research partnership fees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12064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Blueprint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across four key service moments  ·  Detect · Resolve · Record · Learn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92808" y="1426464"/>
            <a:ext cx="2386584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2808" y="1536192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92808" y="179222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2544" y="1426464"/>
            <a:ext cx="2386584" cy="621792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19050">
            <a:solidFill>
              <a:srgbClr val="124B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36192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52544" y="179222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12280" y="1426464"/>
            <a:ext cx="2386584" cy="621792"/>
          </a:xfrm>
          <a:prstGeom prst="roundRect">
            <a:avLst>
              <a:gd name="adj" fmla="val 882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36192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179222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72016" y="1426464"/>
            <a:ext cx="2386584" cy="621792"/>
          </a:xfrm>
          <a:prstGeom prst="roundRect">
            <a:avLst>
              <a:gd name="adj" fmla="val 882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1536192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179222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2048256"/>
            <a:ext cx="1389888" cy="117500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1630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65404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92808" y="2048256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02536" y="217627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soft cue in workstation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02536" y="24688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interruption to reading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2544" y="2048256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17627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 vs own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24688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edits reason tag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048256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217627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consensus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22008" y="24688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evidence bundle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72016" y="2048256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81744" y="217627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decision receipt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81744" y="24688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final decision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223260"/>
            <a:ext cx="1389888" cy="1175004"/>
          </a:xfrm>
          <a:prstGeom prst="rect">
            <a:avLst/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9130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82905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92808" y="3223260"/>
            <a:ext cx="2386584" cy="1175004"/>
          </a:xfrm>
          <a:prstGeom prst="rect">
            <a:avLst/>
          </a:prstGeom>
          <a:solidFill>
            <a:srgbClr val="EAF3FF"/>
          </a:solidFill>
          <a:ln w="15240">
            <a:solidFill>
              <a:srgbClr val="124B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02536" y="3351276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comparison cue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002536" y="36438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classifier triggered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52544" y="3223260"/>
            <a:ext cx="2386584" cy="1175004"/>
          </a:xfrm>
          <a:prstGeom prst="rect">
            <a:avLst/>
          </a:prstGeom>
          <a:solidFill>
            <a:srgbClr val="EAF3FF"/>
          </a:solidFill>
          <a:ln w="15240">
            <a:solidFill>
              <a:srgbClr val="124B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351276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TP1: Comparison 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62272" y="36438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marks · prior images · tags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3223260"/>
            <a:ext cx="2386584" cy="1175004"/>
          </a:xfrm>
          <a:prstGeom prst="rect">
            <a:avLst/>
          </a:prstGeom>
          <a:solidFill>
            <a:srgbClr val="EAF3FF"/>
          </a:solidFill>
          <a:ln w="15240">
            <a:solidFill>
              <a:srgbClr val="124B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3351276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TP2: Consensus support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22008" y="36438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summary · arbitration 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72016" y="3223260"/>
            <a:ext cx="2386584" cy="1175004"/>
          </a:xfrm>
          <a:prstGeom prst="rect">
            <a:avLst/>
          </a:prstGeom>
          <a:solidFill>
            <a:srgbClr val="EAF3FF"/>
          </a:solidFill>
          <a:ln w="15240">
            <a:solidFill>
              <a:srgbClr val="124B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81744" y="3351276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TP3: Decision receipt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81744" y="36438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· case library · learning flag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" y="4398264"/>
            <a:ext cx="1389888" cy="117500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76631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5004054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Back-stage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892808" y="4398264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02536" y="4526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+ marks generated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002536" y="481888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type classified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352544" y="4398264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2272" y="4526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auto-prepared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462272" y="481888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tags suggested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12280" y="4398264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22008" y="4526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summary auto-generated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22008" y="481888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sent to reviewer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272016" y="4398264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81744" y="4526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stored to audit log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381744" y="481888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flagged for learning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2920" y="5573268"/>
            <a:ext cx="1389888" cy="117500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941314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02920" y="617905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892808" y="5573268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02536" y="57012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+ AI + Readyology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352544" y="5573268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62272" y="57012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comparison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462272" y="599389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812280" y="5573268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22008" y="57012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consensus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922008" y="599389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272016" y="5573268"/>
            <a:ext cx="2386584" cy="11750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81744" y="5701284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audit record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381744" y="599389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library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Tested. What We Learned.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expert-led sessions. Clear signal on design direction.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94960" cy="4169664"/>
          </a:xfrm>
          <a:prstGeom prst="roundRect">
            <a:avLst>
              <a:gd name="adj" fmla="val 219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4956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Expert Prototype Test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2450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Sophia Zackrisson · Sr. Consultant Radiologist &amp; Professor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2798064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Wireframe prototype walkthrough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" y="3145536"/>
            <a:ext cx="4937760" cy="0"/>
          </a:xfrm>
          <a:prstGeom prst="line">
            <a:avLst/>
          </a:prstGeom>
          <a:noFill/>
          <a:ln w="10160">
            <a:solidFill>
              <a:srgbClr val="124BC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310128"/>
            <a:ext cx="49560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it simple. No extra steps."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"Integrate into existing reading stations."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cue preferred over alert or alarm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review framing, not 'arbitration'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tags: suggest + confirm, not manual fill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719072"/>
            <a:ext cx="5394960" cy="4169664"/>
          </a:xfrm>
          <a:prstGeom prst="roundRect">
            <a:avLst>
              <a:gd name="adj" fmla="val 2193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975104"/>
            <a:ext cx="4956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Usability Test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9672" y="2450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student · Real clinical work experience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2798064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Interactive prototype, screen session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19672" y="3145536"/>
            <a:ext cx="4937760" cy="0"/>
          </a:xfrm>
          <a:prstGeom prst="line">
            <a:avLst/>
          </a:prstGeom>
          <a:noFill/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310128"/>
            <a:ext cx="49560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scenarios are fast and very busy."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must be direct and non-disruptive."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cognitive burden is non-negotiable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are short — no lengthy forms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visual clarity essential at a glance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327648"/>
            <a:ext cx="2665476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6345936"/>
            <a:ext cx="2391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cues &gt; interrupting alerts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32988" y="6327648"/>
            <a:ext cx="2665476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7580" y="6345936"/>
            <a:ext cx="2391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tags &gt; manual classification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63056" y="6327648"/>
            <a:ext cx="2665476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6345936"/>
            <a:ext cx="2391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workstation &gt; separate device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93124" y="6327648"/>
            <a:ext cx="2665476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124B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7716" y="6345936"/>
            <a:ext cx="2391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after review &gt; real-time burden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READYOLOGY  ·  IRP 2025–26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6350">
            <a:solidFill>
              <a:srgbClr val="0D111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Learning Outcomes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us — as designers and as researchers.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75104"/>
            <a:ext cx="309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2322576"/>
            <a:ext cx="309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problem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58952" y="2779776"/>
            <a:ext cx="3078480" cy="0"/>
          </a:xfrm>
          <a:prstGeom prst="line">
            <a:avLst/>
          </a:prstGeom>
          <a:noFill/>
          <a:ln w="12700">
            <a:solidFill>
              <a:srgbClr val="124BC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962656"/>
            <a:ext cx="3096768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a governance failure, not a technical one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trust is calibrated through evidence, not given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layer must be invisible to be adopted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only happens when recording is low-burden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means consensus, not formal judgment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8952" y="1975104"/>
            <a:ext cx="309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68952" y="2322576"/>
            <a:ext cx="309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service design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68952" y="2779776"/>
            <a:ext cx="3078480" cy="0"/>
          </a:xfrm>
          <a:prstGeom prst="line">
            <a:avLst/>
          </a:prstGeom>
          <a:noFill/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8952" y="2962656"/>
            <a:ext cx="3096768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revealed hidden actor relationships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exposed front-stage vs back-stage gaps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 kept design decisions anchored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surfaced assumptions we hadn't questioned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rigour makes design decisions defensible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2920" y="1719072"/>
            <a:ext cx="3535680" cy="4882896"/>
          </a:xfrm>
          <a:prstGeom prst="roundRect">
            <a:avLst>
              <a:gd name="adj" fmla="val 2586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8952" y="1975104"/>
            <a:ext cx="309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78952" y="2779776"/>
            <a:ext cx="3078480" cy="0"/>
          </a:xfrm>
          <a:prstGeom prst="line">
            <a:avLst/>
          </a:prstGeom>
          <a:noFill/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8952" y="2962656"/>
            <a:ext cx="3096768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radiologist validation study with NHS trust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pathway for existing workstations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audit pilot with service leads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calibration loop design and outcome tracking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other AI-human disagreement contexts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357"/>
          </a:solidFill>
          <a:ln w="12700">
            <a:solidFill>
              <a:srgbClr val="0D2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103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pPr indent="0" marL="0">
              <a:buNone/>
            </a:pPr>
            <a:r>
              <a:rPr lang="en-US" sz="5600" b="1" dirty="0">
                <a:solidFill>
                  <a:srgbClr val="124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ology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2004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Breathe. Re-focus.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focus.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patient.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63550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College of Art  ·  IRP 2025–26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22860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577840" y="33101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46634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5120640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[RCA student email]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Readyology</dc:title>
  <dc:subject>PptxGenJS Presentation</dc:subject>
  <dc:creator>PptxGenJS</dc:creator>
  <cp:lastModifiedBy>PptxGenJS</cp:lastModifiedBy>
  <cp:revision>1</cp:revision>
  <dcterms:created xsi:type="dcterms:W3CDTF">2026-06-24T15:08:02Z</dcterms:created>
  <dcterms:modified xsi:type="dcterms:W3CDTF">2026-06-24T15:08:02Z</dcterms:modified>
</cp:coreProperties>
</file>